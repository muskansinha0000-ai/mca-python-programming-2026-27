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2" r:id="rId96"/>
    <p:sldId id="353" r:id="rId97"/>
    <p:sldId id="354" r:id="rId98"/>
    <p:sldId id="355" r:id="rId99"/>
    <p:sldId id="356" r:id="rId100"/>
    <p:sldId id="357" r:id="rId10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44" y="-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7962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725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Lists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Storing Student Names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you are creating a Python program for a school.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store the names of 5 students:</a:t>
            </a:r>
            <a:endParaRPr lang="en-US" sz="2400" dirty="0"/>
          </a:p>
          <a:p>
            <a:pPr marL="508000" lvl="1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</a:t>
            </a:r>
            <a:endParaRPr lang="en-US" sz="2400" dirty="0"/>
          </a:p>
          <a:p>
            <a:pPr marL="508000" lvl="1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2400" dirty="0"/>
          </a:p>
          <a:p>
            <a:pPr marL="508000" lvl="1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</a:t>
            </a:r>
            <a:endParaRPr lang="en-US" sz="2400" dirty="0"/>
          </a:p>
          <a:p>
            <a:pPr marL="508000" lvl="1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</a:t>
            </a:r>
            <a:endParaRPr lang="en-US" sz="2400" dirty="0"/>
          </a:p>
          <a:p>
            <a:pPr marL="508000" lvl="1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How can you store these 5 student names in Python?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Variable Per Student?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possible way is to create a separate variable for each student: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1064240" cy="39776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105156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name1 = "Rahul"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name2 = "Priya"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name3 = "Amit"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name4 = "Sneha"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name5 = "Riya"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This a Good Approach?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many variables have we created?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5 variables.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we have 100 students? Would it be convenient to create 100 separate variables?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No.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many separate variables becomes difficult to manage.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Variable, Multiple Values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Python allowed us to store multiple values inside one variable?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1064240" cy="347472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20040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["Rahul", "Priya", "Amit", "Sneha", "Riya"]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Called a List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we are using one variable, students, to store multiple values.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a List.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List?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a list in Python?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 list is a built-in Python data structure used to store an ordered collection of multiple items in a single variable.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064240" cy="297180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703320"/>
            <a:ext cx="10515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["Rahul", "Priya", "Amit", "Sneha", "Riya"]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Elements of a List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many elements are present in the list?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5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individual values inside a list are called elements or </a:t>
            </a:r>
            <a:r>
              <a:rPr lang="en-US" sz="2400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items.</a:t>
            </a:r>
            <a:endParaRPr lang="en-US" sz="2400" dirty="0" smtClean="0"/>
          </a:p>
          <a:p>
            <a:pPr algn="l">
              <a:lnSpc>
                <a:spcPct val="108000"/>
              </a:lnSpc>
              <a:spcAft>
                <a:spcPts val="1200"/>
              </a:spcAft>
              <a:buSzPct val="100000"/>
            </a:pPr>
            <a:r>
              <a:rPr lang="en-US" sz="2400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</a:t>
            </a: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["Rahul", "Priya", "Amit", "Sneha", "Riya</a:t>
            </a:r>
            <a:r>
              <a:rPr lang="en-US" sz="2400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"]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  <a:buSzPct val="100000"/>
            </a:pPr>
            <a:r>
              <a:rPr lang="en-US" sz="2400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are:</a:t>
            </a:r>
            <a:endParaRPr lang="en-US" sz="2400" dirty="0"/>
          </a:p>
          <a:p>
            <a:pPr marL="508000" lvl="1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Rahul, Priya, Amit, Sneha, Riya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List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Which brackets are used to create a list in Python?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Square brackets [ ].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064240" cy="297180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703320"/>
            <a:ext cx="10515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thislist = ["apple", "banana", "cherry"]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print(thislist)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['apple', 'banana', 'cherry']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the List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name of the list?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thislist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many elements are present in thislist?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3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are the elements separated?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By commas.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Syntax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syntax is: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1064240" cy="39776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105156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list_name = [element1, element2, element3]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Example: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["apple", "banana", "mango"]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Types of Lists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Does a list have to contain only strings?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No. A list can contain integers, floats, strings, Boolean values, and other Python objects.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064240" cy="297180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703320"/>
            <a:ext cx="10515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mylist = ["Rahul", 25, 85.5, True]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 in a List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data types are present in </a:t>
            </a:r>
            <a:r>
              <a:rPr lang="en-US" sz="240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list?</a:t>
            </a:r>
            <a:endParaRPr lang="en-US" sz="2400" dirty="0"/>
          </a:p>
          <a:p>
            <a:pPr marL="508000" lvl="1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"Rahul"  →  String</a:t>
            </a:r>
            <a:endParaRPr lang="en-US" sz="2400" dirty="0"/>
          </a:p>
          <a:p>
            <a:pPr marL="508000" lvl="1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      →  Integer</a:t>
            </a:r>
            <a:endParaRPr lang="en-US" sz="2400" dirty="0"/>
          </a:p>
          <a:p>
            <a:pPr marL="508000" lvl="1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     →  Float</a:t>
            </a:r>
            <a:endParaRPr lang="en-US" sz="2400" dirty="0"/>
          </a:p>
          <a:p>
            <a:pPr marL="508000" lvl="1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    →  Boolean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Therefore: A Python list can contain multiple data types.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Characteristics of Lists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lists have several important characteristics: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are ordered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are index-based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are mutable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allow duplicate values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can contain different data types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are dynamic and resizable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understand each one.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Are Ordered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974273"/>
            <a:ext cx="11064240" cy="810491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159230"/>
            <a:ext cx="10515600" cy="440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["apple", "banana", "cherry"]</a:t>
            </a:r>
            <a:endParaRPr lang="en-US" sz="2200" dirty="0"/>
          </a:p>
        </p:txBody>
      </p:sp>
      <p:sp>
        <p:nvSpPr>
          <p:cNvPr id="8" name="Rectangle 7"/>
          <p:cNvSpPr/>
          <p:nvPr/>
        </p:nvSpPr>
        <p:spPr>
          <a:xfrm>
            <a:off x="457199" y="3250277"/>
            <a:ext cx="979862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Q: Which fruit comes first? → A: apple</a:t>
            </a:r>
          </a:p>
          <a:p>
            <a:r>
              <a:rPr lang="en-US" sz="2400" dirty="0"/>
              <a:t>Q: Which fruit comes second? → A: banana</a:t>
            </a:r>
          </a:p>
          <a:p>
            <a:r>
              <a:rPr lang="en-US" sz="2400" dirty="0"/>
              <a:t>Q: Which fruit comes third? → A: cherry</a:t>
            </a:r>
          </a:p>
          <a:p>
            <a:r>
              <a:rPr lang="en-US" sz="2400" dirty="0"/>
              <a:t>Q: Does Python remember the order of elements in a list? → A: Yes.</a:t>
            </a:r>
          </a:p>
          <a:p>
            <a:r>
              <a:rPr lang="en-US" sz="2400" dirty="0"/>
              <a:t>The order is: apple → banana → cherry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Ordered means list elements maintain the order in which they are inserted.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Are Index-Based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Consider: fruits = ["apple", "banana", "cherry"]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has a position called an index.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index of the first element? → A: 0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index of the second element? → A: 1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index of the third element? → A: 2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uses zero-based indexing: indexing starts from 0, not 1.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Positions</a:t>
            </a:r>
            <a:endParaRPr lang="en-US" sz="3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118872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banana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cherry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Accessing List Elements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can we access "apple" from the list?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1064240" cy="39776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105156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["apple", "banana", "cherry"]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print(fruits[0])   # Output: apple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print(fruits[1])   # Output: banana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print(fruits[2])   # Output: cherry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Colors — Access by Index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4983480"/>
          </a:xfrm>
          <a:prstGeom prst="roundRect">
            <a:avLst>
              <a:gd name="adj" fmla="val 146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1051560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 = ["red", "green", "blue", "yellow"]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colors[0]   # red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colors[1]   # green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colors[2]   # blue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colors[3]   # yellow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Invalid Index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Consider: colors = ["red", "green", "blue", "yellow"]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 indexes are: 0, 1, 2, 3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happens if we write this?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064240" cy="297180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703320"/>
            <a:ext cx="10515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print(colors[4])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Answer: Python raises an IndexError.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Why? Because there is no element at index 4.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Indexing — Positions</a:t>
            </a:r>
            <a:endParaRPr lang="en-US" sz="3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1737360"/>
        </p:xfrm>
        <a:graphic>
          <a:graphicData uri="http://schemas.openxmlformats.org/drawingml/2006/table">
            <a:tbl>
              <a:tblPr/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banana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cherry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Index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Index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Indexing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we want to access elements from the end of the list?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also provides negative indexing.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 = ["apple", "banana", "cherry", "orange"]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Index Examples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fruits[-1]?  →  A: orange   (-1 refers to the last element)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fruits[-2]?  →  A: cherry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fruits[-3]?  →  A: banana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fruits[-4]?  →  A: apple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11064240" cy="2468880"/>
          </a:xfrm>
          <a:prstGeom prst="roundRect">
            <a:avLst>
              <a:gd name="adj" fmla="val 2963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20624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fruits[-1]   # orange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fruits[-2]   # cherry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fruits[-3]   # banana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fruits[-4]   # apple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Indexing — Quick Practice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numbers = [10, 20, 30, 40, 50]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numbers[-1]?  →  A: 50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numbers[-2]?  →  A: 40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numbers[-5]?  →  A: 10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numbers[-6]?  →  A: IndexError, because there is no element at index -6.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commonly used negative index is -1, which gives the last element.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Allow Duplicate Values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a list contain the same value more than once?  →  A: Yes.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1064240" cy="39776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105156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thislist = ["apple", "banana", "cherry", "apple", "cherry"]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print(thislist)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['apple', 'banana', 'cherry', 'apple', 'cherry']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 Have Different Indexes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many times does "apple" appear?  →  A: 2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many times does "cherry" appear?  →  A: 2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lists are indexed, duplicate values can have different positions.</a:t>
            </a:r>
            <a:endParaRPr lang="en-US" sz="2400" dirty="0"/>
          </a:p>
          <a:p>
            <a:pPr marL="508000" lvl="1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→ index 0   |   apple → index 3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Therefore: Lists allow duplicate values.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Are Mutable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we change an element after the list has been created?  →  A: Yes.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Consider: fruits = ["apple", "banana", "cherry"]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we change "banana" to "mango"?  →  Yes.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064240" cy="297180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703320"/>
            <a:ext cx="10515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fruits[1] = "mango"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print(fruits)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['apple', 'mango', 'cherry']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Mutable Mean?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does mutable mean?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Mutable means that the contents of a list can be changed, updated, added, or removed after the list is created.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one of the most important properties of Python lists.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Updating List Elements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Consider: marks = [45, 67, 89, 72]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value at index 1?  →  A: 67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can we change 67 to 70?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064240" cy="297180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703320"/>
            <a:ext cx="10515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marks[1] = 70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print(marks)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[45, 70, 89, 72]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Syntax for Updating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syntax is: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1064240" cy="39776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105156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list_name[index] = new_value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Example: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marks[2] = 95   # changes the element at index 2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Elements to a List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We know that lists are mutable. Can we add new elements to an existing list?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Yes.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provides several methods to add elements.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important methods are:</a:t>
            </a:r>
            <a:endParaRPr lang="en-US" sz="2400" dirty="0"/>
          </a:p>
          <a:p>
            <a:pPr marL="508000" lvl="1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</a:t>
            </a:r>
            <a:endParaRPr lang="en-US" sz="2400" dirty="0"/>
          </a:p>
          <a:p>
            <a:pPr marL="508000" lvl="1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insert()</a:t>
            </a:r>
            <a:endParaRPr lang="en-US" sz="2400" dirty="0"/>
          </a:p>
          <a:p>
            <a:pPr marL="508000" lvl="1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extend()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append()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Consider: a = [1, 2]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We want to add 3 to the list. Where should 3 be added?  →  A: At the end.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1064240" cy="347472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20040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a.append(3)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[1, 2, 3]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append() — More Examples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does append() do?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append() adds one element at the end of a list.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happens if we call append() twice?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064240" cy="297180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703320"/>
            <a:ext cx="10515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a.append(3)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a.append(4)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# Output: [1, 2, 3, 4]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insert()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we don't want to add an element at the end?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Suppose: a = [1, 3]   We want: [1, 2, 3]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Where should 2 be added?  →  A: At index 1.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064240" cy="297180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703320"/>
            <a:ext cx="10515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3]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a.insert(1, 2)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# Output: [1, 2, 3]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insert() — Syntax &amp; Examples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list_name.insert(index, element)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1064240" cy="39776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105156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["A", "C"]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a.insert(1, "B")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# ['A', 'B', 'C']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[10, 20, 30]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a.insert(0, 5)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# [5, 10, 20, 30]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extend()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we want to add multiple elements to a list?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Suppose: a = [1, 2]. We want to add both 3 and 4.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1064240" cy="347472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20040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a.extend([3, 4])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# Output: [1, 2, 3, 4]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extend() — More Examples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does extend() do?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extend() adds multiple elements to the end of a list.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1064240" cy="347472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20040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[10, 20]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a.extend([30, 40, 50])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# [10, 20, 30, 40, 50]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append() vs insert() vs extend()</a:t>
            </a:r>
            <a:endParaRPr lang="en-US" sz="34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49936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append()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one element at the end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a.append(3)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insert()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one element at a specific position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a.insert(1, 2)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extend()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multiple elements at the end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a.extend([3, 4])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Way to Remember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Want to add one item at the end?  →  A: append()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Want to add one item at a specific position?  →  A: insert()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Want to add multiple items at the end?  →  A: extend()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Removing Elements from a List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We can add elements. What if we want to remove elements?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Python provides several ways to remove elements.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important ways are:</a:t>
            </a:r>
            <a:endParaRPr lang="en-US" sz="2400" dirty="0"/>
          </a:p>
          <a:p>
            <a:pPr marL="508000" lvl="1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remove()</a:t>
            </a:r>
            <a:endParaRPr lang="en-US" sz="2400" dirty="0"/>
          </a:p>
          <a:p>
            <a:pPr marL="508000" lvl="1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</a:t>
            </a:r>
            <a:endParaRPr lang="en-US" sz="2400" dirty="0"/>
          </a:p>
          <a:p>
            <a:pPr marL="508000" lvl="1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</a:t>
            </a:r>
            <a:endParaRPr lang="en-US" sz="2400" dirty="0"/>
          </a:p>
          <a:p>
            <a:pPr marL="508000" lvl="1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clear()</a:t>
            </a: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remove()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Consider: a = [1, 2, 3]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We want to remove the value 2. How can we do it?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1064240" cy="347472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20040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a.remove(2)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# Output: [1, 3]</a:t>
            </a:r>
            <a:endParaRPr lang="en-US" sz="2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remove() — First Occurrence Only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does remove() do?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Removes the first occurrence of a specified value.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remove() works with the value, not the index.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064240" cy="297180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703320"/>
            <a:ext cx="10515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[10, 20, 30, 20]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a.remove(20)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# Output: [10, 30, 20]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Why? remove() removes only the first 20.</a:t>
            </a:r>
            <a:endParaRPr lang="en-US" sz="2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pop()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we want to remove an element using its index?  →  A: We can use pop().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happens if we use pop() without specifying an index?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1064240" cy="347472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20040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a.pop()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# Output: [1, 2]</a:t>
            </a:r>
            <a:endParaRPr lang="en-US" sz="2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pop() — Removing by Index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does pop() do?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Removes and returns an element. Without an index, it removes the last element.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we want to remove the element at index 1?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064240" cy="297180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703320"/>
            <a:ext cx="10515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a.pop(1)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# Output: [1, 3]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[10, 20, 30, 40]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a.pop(2)   # Output: [10, 20, 40]</a:t>
            </a:r>
            <a:endParaRPr lang="en-US" sz="2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Statement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we delete an element using its index without using a method?  →  A: Yes, using del.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1064240" cy="39776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105156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a[1]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# Output: [1, 3]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[10, 20, 30, 40]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a[2]   # Output: [10, 20, 40]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— Deleting the Entire List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Difference: del can also delete the entire list.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1064240" cy="39776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105156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a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this, the variable a no longer exists.</a:t>
            </a:r>
            <a:endParaRPr lang="en-US" sz="2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clear()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we want to remove all elements from a list?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Consider: a = [1, 2, 3]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1064240" cy="347472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20040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a.clear()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# Output: []</a:t>
            </a:r>
            <a:endParaRPr lang="en-US" sz="2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clear() — Definition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does clear() do?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Removes all items from the list, leaving an empty list.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still exists, but it contains no elements.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064240" cy="297180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703320"/>
            <a:ext cx="10515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["apple", "banana", "mango"]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a.clear()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# Output: []</a:t>
            </a:r>
            <a:endParaRPr lang="en-US" sz="2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remove() vs pop() vs del vs clear()</a:t>
            </a:r>
            <a:endParaRPr lang="en-US" sz="34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944368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Based 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remove()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the first occurrence of a value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pop()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an element at an index; no index → removes last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Deletes an element at a specified index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clear()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all elements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Way to Remember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the value I want to remove → a.remove(20)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the index and want to remove the element → a.pop(1)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delete using an index → del a[1]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remove everything from the list → a.clear()</a:t>
            </a:r>
            <a:endParaRPr 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Number of Elements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can we find the number of elements in a list?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Consider: fruits = ["apple", "banana", "mango", "orange"]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1064240" cy="347472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20040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len(fruits)   # Output: 4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len() — Definition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does len() do?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len() returns the number of elements in a list.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1064240" cy="347472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20040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[10, 20, 30, 40, 50]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print(len(numbers))   # Output: 5</a:t>
            </a:r>
            <a:endParaRPr lang="en-US" sz="2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Example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combine the concepts.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= ["Rahul", "Priya", "Amit", "Sneha", "Riya"]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many students are there? → len(students) → A: 5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First student's name? → students[0] → A: Rahul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11064240" cy="2468880"/>
          </a:xfrm>
          <a:prstGeom prst="roundRect">
            <a:avLst>
              <a:gd name="adj" fmla="val 2963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20624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len(students)        # 5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students[0]           # Rahul</a:t>
            </a:r>
            <a:endParaRPr lang="en-US" sz="2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Example (continued)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third student's name?  → students[2]  → A: Amit</a:t>
            </a:r>
            <a:endParaRPr lang="en-US" sz="21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last student's name?  → students[-1]  → A: Riya</a:t>
            </a:r>
            <a:endParaRPr lang="en-US" sz="21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can we change "Amit" to "Arjun"?  → students[2] = "Arjun"</a:t>
            </a:r>
            <a:endParaRPr lang="en-US" sz="21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can we add "Neha" to the list?  → students.append("Neha")</a:t>
            </a:r>
            <a:endParaRPr lang="en-US" sz="21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can we remove "Priya"?  → students.remove("Priya")</a:t>
            </a:r>
            <a:endParaRPr lang="en-US" sz="21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"Rahul" appear twice?  → A: Yes → students.append("Rahul")</a:t>
            </a:r>
            <a:endParaRPr lang="en-US" sz="2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List Example (1/2)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4983480"/>
          </a:xfrm>
          <a:prstGeom prst="roundRect">
            <a:avLst>
              <a:gd name="adj" fmla="val 146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1051560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["Rahul", "Priya", "Amit", "Sneha", "Riya"]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print(students)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Access an element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print(students[0])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Access from the end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print(students[-1])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Update an element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students[2] = "Arjun"</a:t>
            </a:r>
            <a:endParaRPr lang="en-US" sz="2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List Example (2/2)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4983480"/>
          </a:xfrm>
          <a:prstGeom prst="roundRect">
            <a:avLst>
              <a:gd name="adj" fmla="val 146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1051560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an element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students.append("Neha")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 an element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students.remove("Priya")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Find the number of elements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print(len(students))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print(students)</a:t>
            </a:r>
            <a:endParaRPr lang="en-US" sz="2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Concept Check (1/3)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a list?  → A: A built-in Python data structure to store an ordered collection of items.</a:t>
            </a:r>
            <a:endParaRPr lang="en-US" sz="22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Which brackets are used to create a list?  → A: Square brackets [].</a:t>
            </a:r>
            <a:endParaRPr lang="en-US" sz="22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Does list indexing start from 0 or 1?  → A: 0.</a:t>
            </a:r>
            <a:endParaRPr lang="en-US" sz="22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Are lists ordered?  → A: Yes.</a:t>
            </a:r>
            <a:endParaRPr lang="en-US" sz="22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Are lists mutable?  → A: Yes.</a:t>
            </a:r>
            <a:endParaRPr lang="en-US" sz="2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Concept Check (2/3)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lists contain duplicate values?  → A: Yes.</a:t>
            </a:r>
            <a:endParaRPr lang="en-US" sz="22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a list contain different data types?  → A: Yes.</a:t>
            </a:r>
            <a:endParaRPr lang="en-US" sz="22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negative indexing?  → A: Accessing elements from the end of a list.</a:t>
            </a:r>
            <a:endParaRPr lang="en-US" sz="22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does -1 represent?  → A: The last element.</a:t>
            </a:r>
            <a:endParaRPr lang="en-US" sz="22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we access an element?  → A: Using its index — fruits[0]</a:t>
            </a:r>
            <a:endParaRPr lang="en-US" sz="2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Concept Check (3/3)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we change an element?  → fruits[0] = "mango"</a:t>
            </a:r>
            <a:endParaRPr lang="en-US" sz="19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we add one element at the end?  → fruits.append("orange")</a:t>
            </a:r>
            <a:endParaRPr lang="en-US" sz="19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we add an element at a specific position?  → fruits.insert(1, "orange")</a:t>
            </a:r>
            <a:endParaRPr lang="en-US" sz="19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we add multiple elements?  → fruits.extend(["orange", "grapes"])</a:t>
            </a:r>
            <a:endParaRPr lang="en-US" sz="19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we remove by value / by index?  → fruits.remove("orange")  /  fruits.pop(1) or del fruits[1]</a:t>
            </a:r>
            <a:endParaRPr lang="en-US" sz="19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we remove all elements? / find the count?  → fruits.clear()  /  len(fruits)</a:t>
            </a:r>
            <a:endParaRPr lang="en-US" sz="1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Methods &amp; Operations — Quick Reference (1/2)</a:t>
            </a:r>
            <a:endParaRPr lang="en-US" sz="34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20624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[1, 2, 3]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a list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a[0]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Accesses an element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access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a[-1]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Accesses the last element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a[0] = 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an element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a.append(4)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one element at the end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a.insert(1, 4)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an element at a specific index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a.extend([4, 5])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multiple elements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Methods &amp; Operations — Quick Reference (2/2)</a:t>
            </a:r>
            <a:endParaRPr lang="en-US" sz="34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836124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225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a.remove(2)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first occurrence of a value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a.pop()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the last element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by index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a.pop(1)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element at index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 a[1]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Deletes element at index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a.clear()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all elements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len(a)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number of elements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725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= Ordered + Indexed + Mutable + Allows Duplicates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to Remember</a:t>
            </a:r>
            <a:endParaRPr lang="en-US" sz="2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Python List...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multiple values in one variable.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square brackets [].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the order of elements.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zero-based indexing.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negative indexing.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contain duplicate values.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contain different data types.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modified after creation, and can grow or shrink dynamically.</a:t>
            </a:r>
            <a:endParaRPr lang="en-US" sz="2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Example — Putting It All Together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4983480"/>
          </a:xfrm>
          <a:prstGeom prst="roundRect">
            <a:avLst>
              <a:gd name="adj" fmla="val 146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1051560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["apple", "banana", "cherry", "apple"]</a:t>
            </a:r>
            <a:endParaRPr lang="en-US" sz="2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Example — What It Shows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→ maintains the given order.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→ elements have indexes 0, 1, 2, 3.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→ elements can be changed.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duplicates → "apple" appears twice.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indexing → fruits[-1] gives "apple".</a:t>
            </a:r>
            <a:endParaRPr lang="en-US" sz="2400" dirty="0"/>
          </a:p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Resizable → elements can be added or removed.</a:t>
            </a:r>
            <a:endParaRPr lang="en-US" sz="2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list()?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list() is a built-in Python function used to:</a:t>
            </a:r>
            <a:endParaRPr lang="en-US" sz="2200" dirty="0"/>
          </a:p>
          <a:p>
            <a:pPr marL="508000" lvl="1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empty list.</a:t>
            </a:r>
            <a:endParaRPr lang="en-US" sz="2200" dirty="0"/>
          </a:p>
          <a:p>
            <a:pPr marL="508000" lvl="1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an iterable into a list.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545360"/>
            <a:ext cx="11064240" cy="2465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728240"/>
            <a:ext cx="10515600" cy="2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Syntax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list(iterable)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Iterables in Python?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iterable is an object whose elements can be accessed one by one, usually using a for loop.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345360"/>
            <a:ext cx="11064240" cy="405544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28240"/>
            <a:ext cx="10515600" cy="3689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[10, 20, 30]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numbers: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print(x)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numbers is iterable — the for loop reads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 one item at a time.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Python Iterables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600200"/>
          <a:ext cx="11064240" cy="3584448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"Python"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[10, 20, 30]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(10, 20, 30)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{10, 20, 30}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Dictionary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{"a": 1, "b": 2}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range(1, 6)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58968"/>
            <a:ext cx="110642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  <a:spcAft>
                <a:spcPts val="1200"/>
              </a:spcAft>
              <a:buSzPct val="100000"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an Empty List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empty list, [] is more commonly used than list().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345360"/>
            <a:ext cx="11064240" cy="4040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28240"/>
            <a:ext cx="10515600" cy="36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list()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Equivalent to: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[]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Converting a Tuple to a List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main use of list() — converting other iterables into a list.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345360"/>
            <a:ext cx="11064240" cy="2990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28240"/>
            <a:ext cx="10515600" cy="262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(10, 20, 30)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list(t)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20, 30]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Converting a String to a List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is iterable, so list() takes its characters one by one and creates a list.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345360"/>
            <a:ext cx="11064240" cy="2990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28240"/>
            <a:ext cx="10515600" cy="262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"PYTHON"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letters = list(name)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print(letters)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['P', 'Y', 'T', 'H', 'O', 'N']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Converting a Range to a List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particularly important — range() is not a list until converted.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345360"/>
            <a:ext cx="11064240" cy="4040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28240"/>
            <a:ext cx="10515600" cy="36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list(range(1, 6))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[1, 2, 3, 4, 5]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 = list(range(2, 11, 2))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print(even)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[2, 4, 6, 8, 10]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Slicing?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extracts a part (portion) of a sequence such as a list, string, or tuple.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accessing one element at a time, slicing accesses multiple elements at once.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945360"/>
            <a:ext cx="11064240" cy="2465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128240"/>
            <a:ext cx="10515600" cy="2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[10, 20, 30, 40, 50]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print(numbers[1:4])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[20, 30, 40]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of Slicing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600200"/>
          <a:ext cx="11064240" cy="2048256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index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limit — not included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positions to move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922776"/>
            <a:ext cx="110642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rule: start is included, stop is excluded.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Slicing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= [10, 20, 30, 40, 50, 60]</a:t>
            </a:r>
            <a:endParaRPr lang="en-US" sz="2200" dirty="0"/>
          </a:p>
          <a:p>
            <a:pPr marL="508000" lvl="1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 10  20  30  40  50  60</a:t>
            </a:r>
            <a:endParaRPr lang="en-US" sz="2200" dirty="0"/>
          </a:p>
          <a:p>
            <a:pPr marL="508000" lvl="1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  0   1   2   3   4   5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545360"/>
            <a:ext cx="11064240" cy="2657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728240"/>
            <a:ext cx="10515600" cy="22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print(numbers[1:4])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[20, 30, 40]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Indexes 1, 2, 3 are selected.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Index 4 is not included.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 with Start Only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given index and continue until the end.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345360"/>
            <a:ext cx="11064240" cy="2465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28240"/>
            <a:ext cx="10515600" cy="2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[10, 20, 30, 40, 50]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print(numbers[2:])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[30, 40, 50]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 with Stop Only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beginning and stop before the given index.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345360"/>
            <a:ext cx="11064240" cy="2465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28240"/>
            <a:ext cx="10515600" cy="2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[10, 20, 30, 40, 50]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print(numbers[:3])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20, 30]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 with Step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= 2 means: take every second element.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345360"/>
            <a:ext cx="11064240" cy="3515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28240"/>
            <a:ext cx="10515600" cy="3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[10, 20, 30, 40, 50, 60]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print(numbers[0:6:2])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30, 50]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Indexes selected: 0 -&gt; 2 -&gt; 4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Indexing with Slicing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also supports negative indexes.</a:t>
            </a:r>
            <a:endParaRPr lang="en-US" sz="2200" dirty="0"/>
          </a:p>
          <a:p>
            <a:pPr marL="508000" lvl="1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Positive:   0   1   2   3   4</a:t>
            </a:r>
            <a:endParaRPr lang="en-US" sz="2200" dirty="0"/>
          </a:p>
          <a:p>
            <a:pPr marL="508000" lvl="1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Negative:  -5  -4  -3  -2  -1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545360"/>
            <a:ext cx="11064240" cy="285544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728240"/>
            <a:ext cx="10515600" cy="2489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[10, 20, 30, 40, 50]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print(numbers[-3:])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[30, 40, 50]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from the third-last element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 go to the end.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Searching in a List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means finding whether an element exists in a list, or finding its position.</a:t>
            </a:r>
            <a:endParaRPr lang="en-US" sz="2200" dirty="0"/>
          </a:p>
          <a:p>
            <a:pPr marL="508000" lvl="1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in 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not in membership operators.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945360"/>
            <a:ext cx="11064240" cy="2465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128240"/>
            <a:ext cx="10515600" cy="2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[40, 10, 30, 20, 10, 50]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print(30 in numbers)      # Output: True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print(100 in numbers)     # Output: False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print(100 not in numbers) # Output: True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index() Method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index() finds the position of an element in a list.</a:t>
            </a:r>
            <a:endParaRPr lang="en-US" sz="2200" dirty="0"/>
          </a:p>
          <a:p>
            <a:pPr marL="508000" lvl="1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list.index(element)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945360"/>
            <a:ext cx="11064240" cy="3233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128240"/>
            <a:ext cx="10515600" cy="28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[40, 10, 30, 20, 10, 50]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print(numbers.index(30))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30 is at index 2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index() Returns the First Occurrence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index() always returns the first matching position.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345360"/>
            <a:ext cx="11064240" cy="4040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28240"/>
            <a:ext cx="10515600" cy="36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[40, 10, 30, 20, 10, 50]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print(numbers.index(10))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 occurs at indexes 1 and 4,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but index() returns the first one.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index() with start and stop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list.index(value, start, stop)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starts searching from the given start index.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945360"/>
            <a:ext cx="11064240" cy="2465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128240"/>
            <a:ext cx="10515600" cy="2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[40, 10, 30, 20, 10, 50]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print(numbers.index(10, 2))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the Element Is Not Found?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numbers.index(100) raises:</a:t>
            </a:r>
            <a:endParaRPr lang="en-US" sz="2200" dirty="0"/>
          </a:p>
          <a:p>
            <a:pPr marL="508000" lvl="1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ValueError: 100 is not in list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945360"/>
            <a:ext cx="11064240" cy="2990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128240"/>
            <a:ext cx="10515600" cy="262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safer approach: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100 in numbers: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print(numbers.index(100))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print("Element not found")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count() Method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returns the number of times an element occurs in a list.</a:t>
            </a:r>
            <a:endParaRPr lang="en-US" sz="2200" dirty="0"/>
          </a:p>
          <a:p>
            <a:pPr marL="508000" lvl="1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list.count(element)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945360"/>
            <a:ext cx="11064240" cy="2465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128240"/>
            <a:ext cx="10515600" cy="2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[40, 10, 30, 20, 10, 50]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print(numbers.count(10))    # Output: 2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print(numbers.count(50))    # Output: 1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print(numbers.count(100))   # Output: 0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vs index() vs count()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2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</a:t>
            </a:r>
            <a:endParaRPr lang="en-US" sz="2200" dirty="0"/>
          </a:p>
          <a:p>
            <a:pPr marL="508000" lvl="1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-&gt;  checks existence</a:t>
            </a:r>
            <a:endParaRPr lang="en-US" sz="2200" dirty="0"/>
          </a:p>
          <a:p>
            <a:pPr marL="508000" lvl="1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index()  -&gt;  finds position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 -&gt;  does not raise an error when the element is absent, unlike index()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4145360"/>
            <a:ext cx="11064240" cy="225544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328240"/>
            <a:ext cx="10515600" cy="1889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Practical Example: Find Duplicates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[10, 20, 10, 30, 20, 40, 10]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numbers: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numbers.count(n) &gt; 1: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print(n)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a List — Ascending Order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means arranging elements in a particular order.</a:t>
            </a:r>
            <a:endParaRPr lang="en-US" sz="2200" dirty="0"/>
          </a:p>
          <a:p>
            <a:pPr marL="508000" lvl="1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list.sort()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945360"/>
            <a:ext cx="11064240" cy="2990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128240"/>
            <a:ext cx="10515600" cy="262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[40, 10, 30, 20, 50]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numbers.sort()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20, 30, 40, 50]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a List — Descending Order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sort(reverse=True) to sort largest to smallest.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345360"/>
            <a:ext cx="11064240" cy="2990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28240"/>
            <a:ext cx="10515600" cy="262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[40, 10, 30, 20, 50]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numbers.sort(reverse=True)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[50, 40, 30, 20, 10]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sort() Modifies the Original List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sort() changes the list in place — the original list is permanently reordered.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345360"/>
            <a:ext cx="11064240" cy="2990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28240"/>
            <a:ext cx="10515600" cy="262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[30, 10, 20]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numbers.sort()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20, 30]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sort() vs sorted()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600200"/>
          <a:ext cx="11064240" cy="2048256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sort()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sorted()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of list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function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Modifies original?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sorted list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sort() vs sorted() — Example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changes the original list; sorted() creates a new sorted list.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345360"/>
            <a:ext cx="11064240" cy="4040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28240"/>
            <a:ext cx="10515600" cy="36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[30, 10, 20]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new_numbers = sorted(numbers)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print(new_numbers)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[30, 10, 20]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20, 30]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Reversing a List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Reversing changes the order from First -&gt; Last to Last -&gt; First.</a:t>
            </a:r>
            <a:endParaRPr lang="en-US" sz="2200" dirty="0"/>
          </a:p>
          <a:p>
            <a:pPr marL="508000" lvl="1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list.reverse()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reverse() modifies the original list.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545360"/>
            <a:ext cx="11064240" cy="285544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728240"/>
            <a:ext cx="10515600" cy="2489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[10, 20, 30, 40, 50]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numbers.reverse()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[50, 40, 30, 20, 10]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[10, 20, 30]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numbers.reverse()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print(numbers)   # Output: [30, 20, 10]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Concatenation of Lists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 means joining two or more lists using the + operator.</a:t>
            </a:r>
            <a:endParaRPr lang="en-US" sz="2200" dirty="0"/>
          </a:p>
          <a:p>
            <a:pPr marL="508000" lvl="1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list1 + list2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945360"/>
            <a:ext cx="11064240" cy="3233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128240"/>
            <a:ext cx="10515600" cy="28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list1 = [10, 20, 30]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list2 = [40, 50, 60]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list1 + list2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20, 30, 40, 50, 60]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Concatenation Creates a New List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the original lists remain unchanged.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345360"/>
            <a:ext cx="11064240" cy="3515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28240"/>
            <a:ext cx="10515600" cy="3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list1 = [10, 20]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list2 = [30, 40]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list1 + list2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print(list1)   # Output: [10, 20]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print(list2)   # Output: [30, 40]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# Output: [10, 20, 30, 40]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Concatenating More Than Two Lists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 operator can chain any number of lists.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345360"/>
            <a:ext cx="11064240" cy="4040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28240"/>
            <a:ext cx="10515600" cy="36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[3, 4]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[5, 6]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 + b + c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3, 4, 5, 6]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Repetition of Lists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* operator repeats the elements of a list.</a:t>
            </a:r>
            <a:endParaRPr lang="en-US" sz="2200" dirty="0"/>
          </a:p>
          <a:p>
            <a:pPr marL="508000" lvl="1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list * number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945360"/>
            <a:ext cx="11064240" cy="3421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128240"/>
            <a:ext cx="10515600" cy="30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[10, 20]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 * 3)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20, 10, 20, 10, 20]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['A', 'B']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* 4)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['A','B','A','B','A','B','A','B']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Repetition Does Not Do Arithmetic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repetition does not perform arithmetic on individual elements.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345360"/>
            <a:ext cx="11064240" cy="4040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28240"/>
            <a:ext cx="10515600" cy="36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20] * 2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does NOT give: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[20, 40]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 gives: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20, 10, 20]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copy() Method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copy() creates a shallow copy of a list.</a:t>
            </a:r>
            <a:endParaRPr lang="en-US" sz="2200" dirty="0"/>
          </a:p>
          <a:p>
            <a:pPr marL="508000" lvl="1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new_list = old_list.copy()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945360"/>
            <a:ext cx="11064240" cy="2990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128240"/>
            <a:ext cx="10515600" cy="262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[10, 20, 30]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new_numbers = numbers.copy()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print(new_numbers)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20, 30]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copy()?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students think b = a creates a separate copy.</a:t>
            </a:r>
            <a:endParaRPr lang="en-US" sz="2200" dirty="0"/>
          </a:p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— both variables refer to the same list.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945360"/>
            <a:ext cx="11064240" cy="3421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128240"/>
            <a:ext cx="10515600" cy="30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[10, 20, 30]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b.append(40)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20, 30, 40]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20, 30, 40]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65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copy() to Avoid This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 and b are separate list objects — changing one does not affect the other.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345360"/>
            <a:ext cx="11064240" cy="38057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28240"/>
            <a:ext cx="10515600" cy="3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[10, 20, 30]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a.copy()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b.append(40)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print(b)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20, 30]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20, 30, 40]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5555</Words>
  <Application>Microsoft Office PowerPoint</Application>
  <PresentationFormat>Widescreen</PresentationFormat>
  <Paragraphs>966</Paragraphs>
  <Slides>100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6" baseType="lpstr">
      <vt:lpstr>Arial</vt:lpstr>
      <vt:lpstr>Calibri</vt:lpstr>
      <vt:lpstr>Calibri Light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4</cp:revision>
  <dcterms:created xsi:type="dcterms:W3CDTF">2026-08-27T05:22:47Z</dcterms:created>
  <dcterms:modified xsi:type="dcterms:W3CDTF">2026-09-03T05:54:10Z</dcterms:modified>
</cp:coreProperties>
</file>